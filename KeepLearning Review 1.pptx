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60" r:id="rId4"/>
    <p:sldId id="258" r:id="rId5"/>
    <p:sldId id="259" r:id="rId6"/>
    <p:sldId id="269" r:id="rId7"/>
    <p:sldId id="270" r:id="rId8"/>
    <p:sldId id="275" r:id="rId9"/>
    <p:sldId id="271" r:id="rId10"/>
    <p:sldId id="272" r:id="rId11"/>
    <p:sldId id="265" r:id="rId12"/>
    <p:sldId id="264" r:id="rId13"/>
    <p:sldId id="273" r:id="rId14"/>
    <p:sldId id="266" r:id="rId15"/>
  </p:sldIdLst>
  <p:sldSz cx="12192000" cy="6858000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wJFx4wQkKR8A1eenAcah7OmYy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0616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0042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8456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6292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1959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748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 descr="A picture containing sky, outdoor, real estate, architecture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56674" y="250189"/>
            <a:ext cx="11678651" cy="635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5813" y="500378"/>
            <a:ext cx="5644907" cy="1386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9001" y="466512"/>
            <a:ext cx="2125133" cy="522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ctrTitle"/>
          </p:nvPr>
        </p:nvSpPr>
        <p:spPr>
          <a:xfrm>
            <a:off x="373626" y="870634"/>
            <a:ext cx="1166105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Keep Learning: </a:t>
            </a:r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AI-Powered Revision Plans</a:t>
            </a:r>
            <a:endParaRPr sz="4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22"/>
          <p:cNvSpPr/>
          <p:nvPr/>
        </p:nvSpPr>
        <p:spPr>
          <a:xfrm>
            <a:off x="6725926" y="4492366"/>
            <a:ext cx="502325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Guide Name: Ms. Brintha G, AP/CSE</a:t>
            </a:r>
            <a:endParaRPr lang="en-IN" sz="2200" b="0" i="0" u="none" strike="noStrike" baseline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88" name="Google Shape;88;p22"/>
          <p:cNvSpPr/>
          <p:nvPr/>
        </p:nvSpPr>
        <p:spPr>
          <a:xfrm>
            <a:off x="925264" y="4404852"/>
            <a:ext cx="5023252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Mo</a:t>
            </a:r>
            <a:r>
              <a:rPr lang="en-US" sz="22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hammed Abrar A </a:t>
            </a:r>
            <a:endParaRPr lang="en-US" sz="22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Mugunthan</a:t>
            </a:r>
            <a:r>
              <a:rPr lang="en-US" sz="22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u="none" strike="noStrike" cap="none" dirty="0" err="1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Abishree</a:t>
            </a:r>
            <a:r>
              <a:rPr lang="en-US" sz="22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CEE3CE-1306-C070-781C-C7147274025B}"/>
              </a:ext>
            </a:extLst>
          </p:cNvPr>
          <p:cNvSpPr txBox="1"/>
          <p:nvPr/>
        </p:nvSpPr>
        <p:spPr>
          <a:xfrm>
            <a:off x="3803904" y="46542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378855" y="18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838200" y="165188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 lnSpcReduction="10000"/>
          </a:bodyPr>
          <a:lstStyle/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Learning platforms today (LMS, EdTech apps, corporate L&amp;D tools) mainly track what a learner has completed, not what they still remember afterward.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Human memory naturally decays over time; without revisiting a topic, learned knowledge and skills gradually fade – a phenomenon called Knowledge Drift.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Quiz scores and completion badges are one-time snapshots and cannot tell when a specific learner is likely to forget a specific topic.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This project uses deep sequence models (LSTM/Transformer) to continuously model each learner’s retention over time for every topic studied.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A dynamic retention score, personalized revision plan, AI-generated quizzes and smart reminders are generated automatically, enabling proactive rather than reactive learning.</a:t>
            </a:r>
          </a:p>
        </p:txBody>
      </p:sp>
      <p:sp>
        <p:nvSpPr>
          <p:cNvPr id="104" name="Google Shape;10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838200" y="135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Problem Statement - Phase I</a:t>
            </a:r>
          </a:p>
        </p:txBody>
      </p:sp>
      <p:sp>
        <p:nvSpPr>
          <p:cNvPr id="121" name="Google Shape;12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2" name="Google Shape;12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e-learning and corporate training platforms measure learning only through quiz scores or course-completion status captured at a single point in time.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 of these systems track how a learner's grasp of a topic decays afterward.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learners are either forced to repeat entire courses regardless of what they individually still remember, or they silently forget important skills until a test or task failure exposes the gap.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currently no lightweight, deep-learning-based system that continuously predicts which topics a specific learner is likely to forget, quantifies that risk as a retention score, and proactively recommends what to revise and when.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that gap by building a Knowledge Drift Prediction system that models each learner's forgetting pattern using LSTM/Transformer networks and converts that prediction into a personalized, actionable revision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378855" y="18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 lnSpcReduction="10000"/>
          </a:bodyPr>
          <a:lstStyle/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To design a deep learning model (LSTM/Transformer) that predicts a learner's knowledge retention score for each topic over time.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To identify, in advance, the specific topics or skills a learner is most likely to forget.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To replace one-size-fits-all repeat training with personalized, topic-level revision recommendations.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To build a learning dashboard that visualizes skill progress and retention analytics for learners and administrators.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To generate AI-based quizzes automatically for topics identified as weak or at risk of being forgotten.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To trigger smart reminders based on the predicted rate of knowledge decay for each learner.</a:t>
            </a:r>
          </a:p>
        </p:txBody>
      </p:sp>
      <p:sp>
        <p:nvSpPr>
          <p:cNvPr id="104" name="Google Shape;10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555196" y="4265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Literature Review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62445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18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DRL-SRS (2024): </a:t>
            </a:r>
            <a:r>
              <a:rPr lang="en-US" sz="2000" dirty="0">
                <a:latin typeface="Times New Roman"/>
                <a:cs typeface="Times New Roman"/>
              </a:rPr>
              <a:t>combined a Transformer-based half-life predictor with deep reinforcement learning to optimize review-interval scheduling.</a:t>
            </a:r>
          </a:p>
          <a:p>
            <a:pPr marL="342900" indent="-342900">
              <a:lnSpc>
                <a:spcPct val="118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GLD-HLR (2023): </a:t>
            </a:r>
            <a:r>
              <a:rPr lang="en-US" sz="2000" dirty="0">
                <a:latin typeface="Times New Roman"/>
                <a:cs typeface="Times New Roman"/>
              </a:rPr>
              <a:t>improved half-life prediction accuracy by decoupling multi-scale temporal memory features using frequency-domain transforms.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Zhao et al. (2023) - GFLDKT: </a:t>
            </a:r>
            <a:r>
              <a:rPr lang="en-US" sz="2000" dirty="0">
                <a:latin typeface="Times New Roman"/>
                <a:cs typeface="Times New Roman"/>
              </a:rPr>
              <a:t>introduced a gating-controlled forgetting-and-learning mechanism inside an LSTM to update a learner's knowledge state more accurately.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Nagatani et al. - DFKT Model: </a:t>
            </a:r>
            <a:r>
              <a:rPr lang="en-US" sz="2000" dirty="0">
                <a:latin typeface="Times New Roman"/>
                <a:cs typeface="Times New Roman"/>
              </a:rPr>
              <a:t>combined LSTM-based knowledge vectors with a Neural Factorization Machine to fold in forgetting-related side information.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Deep Knowledge Tracing with Learning Curves (2023): </a:t>
            </a:r>
            <a:r>
              <a:rPr lang="en-US" sz="2000" dirty="0">
                <a:latin typeface="Times New Roman"/>
                <a:cs typeface="Times New Roman"/>
              </a:rPr>
              <a:t>weighs a student's recent performance on a concept using a time-decay function derived from the Ebbinghaus forgetting curve.</a:t>
            </a:r>
          </a:p>
          <a:p>
            <a:pPr marL="0" indent="0">
              <a:lnSpc>
                <a:spcPct val="118000"/>
              </a:lnSpc>
              <a:spcBef>
                <a:spcPts val="450"/>
              </a:spcBef>
              <a:buNone/>
            </a:pPr>
            <a:r>
              <a:rPr lang="en-US" sz="2000" dirty="0">
                <a:latin typeface="Times New Roman"/>
                <a:cs typeface="Times New Roman"/>
              </a:rPr>
              <a:t>.</a:t>
            </a:r>
          </a:p>
          <a:p>
            <a:pPr marL="342900" indent="-342900" algn="l">
              <a:lnSpc>
                <a:spcPct val="118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378855" y="18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682752" y="151183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Data Collection: </a:t>
            </a:r>
            <a:r>
              <a:rPr lang="en-US" sz="2000" dirty="0">
                <a:latin typeface="Times New Roman"/>
                <a:cs typeface="Times New Roman"/>
              </a:rPr>
              <a:t>Gather learner interaction logs – quiz attempts, scores, timestamps, topic tags and revision history from the LMS/training platform.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Feature Engineering: </a:t>
            </a:r>
            <a:r>
              <a:rPr lang="en-US" sz="2000" dirty="0">
                <a:latin typeface="Times New Roman"/>
                <a:cs typeface="Times New Roman"/>
              </a:rPr>
              <a:t>Derive time-since-last-practice, attempt frequency, accuracy trend and topic-difficulty features for each learner-topic pair..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Forgetting Prediction: </a:t>
            </a:r>
            <a:r>
              <a:rPr lang="en-US" sz="2000" dirty="0">
                <a:latin typeface="Times New Roman"/>
                <a:cs typeface="Times New Roman"/>
              </a:rPr>
              <a:t>Rank topics by predicted decay to identify which ones a learner is most likely to forget next.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Revision Recommendation: </a:t>
            </a:r>
            <a:r>
              <a:rPr lang="en-US" sz="2000" dirty="0">
                <a:latin typeface="Times New Roman"/>
                <a:cs typeface="Times New Roman"/>
              </a:rPr>
              <a:t>Convert low retention scores into a personalized, topic-level revision plan instead of a full course repeat.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Dashboard &amp; Alerts: </a:t>
            </a:r>
            <a:r>
              <a:rPr lang="en-US" sz="2000" dirty="0">
                <a:latin typeface="Times New Roman"/>
                <a:cs typeface="Times New Roman"/>
              </a:rPr>
              <a:t>Visualize retention analytics on a dashboard and trigger AI-generated quizzes and smart reminders for at-risk topics.</a:t>
            </a:r>
          </a:p>
        </p:txBody>
      </p:sp>
      <p:sp>
        <p:nvSpPr>
          <p:cNvPr id="104" name="Google Shape;10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378855" y="18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Proposed Architecture / Framework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774192" y="151183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Pipeline: </a:t>
            </a:r>
            <a:r>
              <a:rPr lang="en-US" sz="2000" dirty="0">
                <a:latin typeface="Times New Roman"/>
                <a:cs typeface="Times New Roman"/>
              </a:rPr>
              <a:t>Learner Activity Logs → Preprocessing Module → LSTM/Transformer Retention Model → Retention Score Engine → Revision Recommender → Dashboard &amp; Quiz Generator → Smart Reminder System.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Preprocessing Module: </a:t>
            </a:r>
            <a:r>
              <a:rPr lang="en-US" sz="2000" dirty="0">
                <a:latin typeface="Times New Roman"/>
                <a:cs typeface="Times New Roman"/>
              </a:rPr>
              <a:t>Cleans and structures raw logs into per-topic, per-learner time-series sequences.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Retention Model: </a:t>
            </a:r>
            <a:r>
              <a:rPr lang="en-US" sz="2000" dirty="0">
                <a:latin typeface="Times New Roman"/>
                <a:cs typeface="Times New Roman"/>
              </a:rPr>
              <a:t>LSTM/Transformer network that learns each learner’s forgetting pattern and outputs a retention score per topic.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Retention Score Engine: </a:t>
            </a:r>
            <a:r>
              <a:rPr lang="en-US" sz="2000" dirty="0">
                <a:latin typeface="Times New Roman"/>
                <a:cs typeface="Times New Roman"/>
              </a:rPr>
              <a:t>Continuously updates and stores retention scores as new learner activity arrives.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Revision Recommender: </a:t>
            </a:r>
            <a:r>
              <a:rPr lang="en-US" sz="2000" dirty="0">
                <a:latin typeface="Times New Roman"/>
                <a:cs typeface="Times New Roman"/>
              </a:rPr>
              <a:t>Converts low scores into a ranked, personalized revision plan..</a:t>
            </a:r>
          </a:p>
        </p:txBody>
      </p:sp>
      <p:sp>
        <p:nvSpPr>
          <p:cNvPr id="104" name="Google Shape;10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378855" y="18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Flow Architecture Diagram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Box201"/>
          <p:cNvSpPr/>
          <p:nvPr/>
        </p:nvSpPr>
        <p:spPr>
          <a:xfrm>
            <a:off x="838200" y="1900000"/>
            <a:ext cx="2478900" cy="950000"/>
          </a:xfrm>
          <a:prstGeom prst="roundRect">
            <a:avLst>
              <a:gd name="adj" fmla="val 8000"/>
            </a:avLst>
          </a:prstGeom>
          <a:solidFill>
            <a:srgbClr val="1B4B5C"/>
          </a:solidFill>
          <a:ln w="12700">
            <a:noFill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wrap="square" lIns="91425" tIns="45700" rIns="91425" bIns="45700" anchor="ctr" anchorCtr="1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Learner Activity Logs</a:t>
            </a:r>
          </a:p>
        </p:txBody>
      </p:sp>
      <p:sp>
        <p:nvSpPr>
          <p:cNvPr id="202" name="Box202"/>
          <p:cNvSpPr/>
          <p:nvPr/>
        </p:nvSpPr>
        <p:spPr>
          <a:xfrm>
            <a:off x="3517100" y="1900000"/>
            <a:ext cx="2478900" cy="950000"/>
          </a:xfrm>
          <a:prstGeom prst="roundRect">
            <a:avLst>
              <a:gd name="adj" fmla="val 8000"/>
            </a:avLst>
          </a:prstGeom>
          <a:solidFill>
            <a:srgbClr val="1B4B5C"/>
          </a:solidFill>
          <a:ln w="12700">
            <a:noFill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wrap="square" lIns="91425" tIns="45700" rIns="91425" bIns="45700" anchor="ctr" anchorCtr="1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Preprocessing Module</a:t>
            </a:r>
          </a:p>
        </p:txBody>
      </p:sp>
      <p:sp>
        <p:nvSpPr>
          <p:cNvPr id="203" name="Box203"/>
          <p:cNvSpPr/>
          <p:nvPr/>
        </p:nvSpPr>
        <p:spPr>
          <a:xfrm>
            <a:off x="6196000" y="1900000"/>
            <a:ext cx="2478900" cy="950000"/>
          </a:xfrm>
          <a:prstGeom prst="roundRect">
            <a:avLst>
              <a:gd name="adj" fmla="val 8000"/>
            </a:avLst>
          </a:prstGeom>
          <a:solidFill>
            <a:srgbClr val="E8792E"/>
          </a:solidFill>
          <a:ln w="12700">
            <a:noFill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wrap="square" lIns="91425" tIns="45700" rIns="91425" bIns="45700" anchor="ctr" anchorCtr="1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LSTM / Transformer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Retention Model</a:t>
            </a:r>
          </a:p>
        </p:txBody>
      </p:sp>
      <p:sp>
        <p:nvSpPr>
          <p:cNvPr id="204" name="Box204"/>
          <p:cNvSpPr/>
          <p:nvPr/>
        </p:nvSpPr>
        <p:spPr>
          <a:xfrm>
            <a:off x="8874900" y="1900000"/>
            <a:ext cx="2478900" cy="950000"/>
          </a:xfrm>
          <a:prstGeom prst="roundRect">
            <a:avLst>
              <a:gd name="adj" fmla="val 8000"/>
            </a:avLst>
          </a:prstGeom>
          <a:solidFill>
            <a:srgbClr val="1B4B5C"/>
          </a:solidFill>
          <a:ln w="12700">
            <a:noFill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wrap="square" lIns="91425" tIns="45700" rIns="91425" bIns="45700" anchor="ctr" anchorCtr="1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Retention Score Engine</a:t>
            </a:r>
          </a:p>
        </p:txBody>
      </p:sp>
      <p:cxnSp>
        <p:nvCxnSpPr>
          <p:cNvPr id="205" name="Arrow205"/>
          <p:cNvCxnSpPr/>
          <p:nvPr/>
        </p:nvCxnSpPr>
        <p:spPr>
          <a:xfrm>
            <a:off x="3317100" y="2375000"/>
            <a:ext cx="20000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cxnSp>
        <p:nvCxnSpPr>
          <p:cNvPr id="206" name="Arrow206"/>
          <p:cNvCxnSpPr/>
          <p:nvPr/>
        </p:nvCxnSpPr>
        <p:spPr>
          <a:xfrm>
            <a:off x="5996000" y="2375000"/>
            <a:ext cx="20000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cxnSp>
        <p:nvCxnSpPr>
          <p:cNvPr id="207" name="Arrow207"/>
          <p:cNvCxnSpPr/>
          <p:nvPr/>
        </p:nvCxnSpPr>
        <p:spPr>
          <a:xfrm>
            <a:off x="8674900" y="2375000"/>
            <a:ext cx="20000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cxnSp>
        <p:nvCxnSpPr>
          <p:cNvPr id="208" name="Arrow208"/>
          <p:cNvCxnSpPr/>
          <p:nvPr/>
        </p:nvCxnSpPr>
        <p:spPr>
          <a:xfrm>
            <a:off x="10114350" y="2850000"/>
            <a:ext cx="0" cy="725000"/>
          </a:xfrm>
          <a:prstGeom prst="line">
            <a:avLst/>
          </a:prstGeom>
          <a:ln w="28575">
            <a:solidFill>
              <a:srgbClr val="595959"/>
            </a:solidFill>
          </a:ln>
        </p:spPr>
      </p:cxnSp>
      <p:cxnSp>
        <p:nvCxnSpPr>
          <p:cNvPr id="209" name="Arrow209"/>
          <p:cNvCxnSpPr/>
          <p:nvPr/>
        </p:nvCxnSpPr>
        <p:spPr>
          <a:xfrm>
            <a:off x="9667865" y="3575000"/>
            <a:ext cx="446485" cy="0"/>
          </a:xfrm>
          <a:prstGeom prst="line">
            <a:avLst/>
          </a:prstGeom>
          <a:ln w="28575">
            <a:solidFill>
              <a:srgbClr val="595959"/>
            </a:solidFill>
            <a:headEnd type="triangle" w="med" len="med"/>
          </a:ln>
        </p:spPr>
      </p:cxnSp>
      <p:cxnSp>
        <p:nvCxnSpPr>
          <p:cNvPr id="210" name="Arrow210"/>
          <p:cNvCxnSpPr/>
          <p:nvPr/>
        </p:nvCxnSpPr>
        <p:spPr>
          <a:xfrm>
            <a:off x="9667865" y="3575000"/>
            <a:ext cx="0" cy="72500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sp>
        <p:nvSpPr>
          <p:cNvPr id="211" name="Box211"/>
          <p:cNvSpPr/>
          <p:nvPr/>
        </p:nvSpPr>
        <p:spPr>
          <a:xfrm>
            <a:off x="838200" y="4300000"/>
            <a:ext cx="3371866" cy="950000"/>
          </a:xfrm>
          <a:prstGeom prst="roundRect">
            <a:avLst>
              <a:gd name="adj" fmla="val 8000"/>
            </a:avLst>
          </a:prstGeom>
          <a:solidFill>
            <a:srgbClr val="2F8F6B"/>
          </a:solidFill>
          <a:ln w="12700">
            <a:noFill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wrap="square" lIns="91425" tIns="45700" rIns="91425" bIns="45700" anchor="ctr" anchorCtr="1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Smart Reminder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</a:p>
        </p:txBody>
      </p:sp>
      <p:sp>
        <p:nvSpPr>
          <p:cNvPr id="212" name="Box212"/>
          <p:cNvSpPr/>
          <p:nvPr/>
        </p:nvSpPr>
        <p:spPr>
          <a:xfrm>
            <a:off x="4410066" y="4300000"/>
            <a:ext cx="3371866" cy="950000"/>
          </a:xfrm>
          <a:prstGeom prst="roundRect">
            <a:avLst>
              <a:gd name="adj" fmla="val 8000"/>
            </a:avLst>
          </a:prstGeom>
          <a:solidFill>
            <a:srgbClr val="2F8F6B"/>
          </a:solidFill>
          <a:ln w="12700">
            <a:noFill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wrap="square" lIns="91425" tIns="45700" rIns="91425" bIns="45700" anchor="ctr" anchorCtr="1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Dashboard &amp;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Quiz Generator</a:t>
            </a:r>
          </a:p>
        </p:txBody>
      </p:sp>
      <p:sp>
        <p:nvSpPr>
          <p:cNvPr id="213" name="Box213"/>
          <p:cNvSpPr/>
          <p:nvPr/>
        </p:nvSpPr>
        <p:spPr>
          <a:xfrm>
            <a:off x="7981932" y="4300000"/>
            <a:ext cx="3371866" cy="950000"/>
          </a:xfrm>
          <a:prstGeom prst="roundRect">
            <a:avLst>
              <a:gd name="adj" fmla="val 8000"/>
            </a:avLst>
          </a:prstGeom>
          <a:solidFill>
            <a:srgbClr val="2F8F6B"/>
          </a:solidFill>
          <a:ln w="12700">
            <a:noFill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wrap="square" lIns="91425" tIns="45700" rIns="91425" bIns="45700" anchor="ctr" anchorCtr="1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Revision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Recommender</a:t>
            </a:r>
          </a:p>
        </p:txBody>
      </p:sp>
      <p:cxnSp>
        <p:nvCxnSpPr>
          <p:cNvPr id="214" name="Arrow214"/>
          <p:cNvCxnSpPr/>
          <p:nvPr/>
        </p:nvCxnSpPr>
        <p:spPr>
          <a:xfrm>
            <a:off x="4210066" y="4775000"/>
            <a:ext cx="200000" cy="0"/>
          </a:xfrm>
          <a:prstGeom prst="line">
            <a:avLst/>
          </a:prstGeom>
          <a:ln w="28575">
            <a:solidFill>
              <a:srgbClr val="595959"/>
            </a:solidFill>
            <a:headEnd type="triangle" w="med" len="med"/>
          </a:ln>
        </p:spPr>
      </p:cxnSp>
      <p:cxnSp>
        <p:nvCxnSpPr>
          <p:cNvPr id="215" name="Arrow215"/>
          <p:cNvCxnSpPr/>
          <p:nvPr/>
        </p:nvCxnSpPr>
        <p:spPr>
          <a:xfrm>
            <a:off x="7781932" y="4775000"/>
            <a:ext cx="200000" cy="0"/>
          </a:xfrm>
          <a:prstGeom prst="line">
            <a:avLst/>
          </a:prstGeom>
          <a:ln w="28575">
            <a:solidFill>
              <a:srgbClr val="595959"/>
            </a:solidFill>
            <a:headEnd type="triangle" w="med" len="med"/>
          </a:ln>
        </p:spPr>
      </p:cxnSp>
      <p:sp>
        <p:nvSpPr>
          <p:cNvPr id="104" name="Google Shape;10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378855" y="18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Algorithms / Techniques Used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755904" y="151183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lnSpc>
                <a:spcPct val="130000"/>
              </a:lnSpc>
              <a:spcBef>
                <a:spcPts val="700"/>
              </a:spcBef>
            </a:pPr>
            <a:r>
              <a:rPr lang="en-US" sz="2000" b="1" dirty="0">
                <a:latin typeface="Times New Roman"/>
                <a:cs typeface="Times New Roman"/>
              </a:rPr>
              <a:t>LSTM (Long Short-Term Memory): </a:t>
            </a:r>
            <a:r>
              <a:rPr lang="en-US" sz="2000" dirty="0">
                <a:latin typeface="Times New Roman"/>
                <a:cs typeface="Times New Roman"/>
              </a:rPr>
              <a:t>Models the sequence of a learner’s attempts on a topic to capture how knowledge builds and decays over time.</a:t>
            </a:r>
          </a:p>
          <a:p>
            <a:pPr indent="-457200">
              <a:lnSpc>
                <a:spcPct val="130000"/>
              </a:lnSpc>
              <a:spcBef>
                <a:spcPts val="700"/>
              </a:spcBef>
            </a:pPr>
            <a:r>
              <a:rPr lang="en-US" sz="2000" b="1" dirty="0">
                <a:latin typeface="Times New Roman"/>
                <a:cs typeface="Times New Roman"/>
              </a:rPr>
              <a:t>Transformer / Attention: </a:t>
            </a:r>
            <a:r>
              <a:rPr lang="en-US" sz="2000" dirty="0">
                <a:latin typeface="Times New Roman"/>
                <a:cs typeface="Times New Roman"/>
              </a:rPr>
              <a:t>Captures longer-range dependencies across a learner’s full history, weighing which past attempts matter most for current retention.</a:t>
            </a:r>
          </a:p>
          <a:p>
            <a:pPr indent="-457200">
              <a:lnSpc>
                <a:spcPct val="130000"/>
              </a:lnSpc>
              <a:spcBef>
                <a:spcPts val="700"/>
              </a:spcBef>
            </a:pPr>
            <a:r>
              <a:rPr lang="en-US" sz="2000" b="1" dirty="0">
                <a:latin typeface="Times New Roman"/>
                <a:cs typeface="Times New Roman"/>
              </a:rPr>
              <a:t>Forget-Gate Mechanism: </a:t>
            </a:r>
            <a:r>
              <a:rPr lang="en-US" sz="2000" dirty="0">
                <a:latin typeface="Times New Roman"/>
                <a:cs typeface="Times New Roman"/>
              </a:rPr>
              <a:t>Adaptive forget gates regulate how quickly the model “forgets” stale information, mirroring human memory decay.</a:t>
            </a:r>
          </a:p>
          <a:p>
            <a:pPr indent="-457200">
              <a:lnSpc>
                <a:spcPct val="130000"/>
              </a:lnSpc>
              <a:spcBef>
                <a:spcPts val="700"/>
              </a:spcBef>
            </a:pPr>
            <a:r>
              <a:rPr lang="en-US" sz="2000" b="1" dirty="0">
                <a:latin typeface="Times New Roman"/>
                <a:cs typeface="Times New Roman"/>
              </a:rPr>
              <a:t>Time-Decay / Ebbinghaus Features: </a:t>
            </a:r>
            <a:r>
              <a:rPr lang="en-US" sz="2000" dirty="0">
                <a:latin typeface="Times New Roman"/>
                <a:cs typeface="Times New Roman"/>
              </a:rPr>
              <a:t>Exponential decay functions weight recent performance more heavily than older attempts.</a:t>
            </a:r>
          </a:p>
          <a:p>
            <a:pPr indent="-457200">
              <a:lnSpc>
                <a:spcPct val="130000"/>
              </a:lnSpc>
              <a:spcBef>
                <a:spcPts val="700"/>
              </a:spcBef>
            </a:pPr>
            <a:r>
              <a:rPr lang="en-US" sz="2000" b="1" dirty="0">
                <a:latin typeface="Times New Roman"/>
                <a:cs typeface="Times New Roman"/>
              </a:rPr>
              <a:t>Recommendation &amp; Scheduling: </a:t>
            </a:r>
            <a:r>
              <a:rPr lang="en-US" sz="2000" dirty="0">
                <a:latin typeface="Times New Roman"/>
                <a:cs typeface="Times New Roman"/>
              </a:rPr>
              <a:t>Ranks topics by predicted retention and schedules revision/reminders accordingly.</a:t>
            </a:r>
          </a:p>
        </p:txBody>
      </p:sp>
      <p:sp>
        <p:nvSpPr>
          <p:cNvPr id="104" name="Google Shape;10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378855" y="18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Implementation Results and Discussion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646176" y="151183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 lnSpcReduction="10000"/>
          </a:bodyPr>
          <a:lstStyle/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Learner activity dataset identified and a preprocessing pipeline designed to convert raw logs into per-topic learning sequences.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Baseline Half-Life Regression model implemented for benchmarking against the proposed deep-learning approach.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Initial LSTM-based retention model architecture designed and unit-tested on sample sequences.</a:t>
            </a:r>
          </a:p>
          <a:p>
            <a:pPr marL="342900" indent="-342900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Retention score computation logic and revision-ranking rules defined based on the literature review.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Wireframe of the learning dashboard drafted to visualize per-topic retention analytics.</a:t>
            </a:r>
          </a:p>
          <a:p>
            <a:pPr marL="342900" indent="-342900" algn="l">
              <a:lnSpc>
                <a:spcPct val="13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Next phase: train the LSTM/Transformer model on real learner data, integrate the dashboard, and evaluate against the Half-Life Regression baseline.</a:t>
            </a:r>
          </a:p>
        </p:txBody>
      </p:sp>
      <p:sp>
        <p:nvSpPr>
          <p:cNvPr id="104" name="Google Shape;10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490A-1BE7-EAC9-E5F5-DE3E5F3A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Journal Base Paper selection</a:t>
            </a:r>
            <a:br>
              <a:rPr lang="en-IN" b="0" i="0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13DE1-0BF3-519D-7242-029FDC2F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040" y="1690688"/>
            <a:ext cx="10515600" cy="4351338"/>
          </a:xfrm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Times New Roman"/>
                <a:cs typeface="Times New Roman"/>
              </a:rPr>
              <a:t>Base Paper: </a:t>
            </a:r>
            <a:r>
              <a:rPr lang="en-US" sz="1800" dirty="0">
                <a:latin typeface="Times New Roman"/>
                <a:cs typeface="Times New Roman"/>
              </a:rPr>
              <a:t>B. Settles and B. Meeder, “A Trainable Spaced Repetition Model for Language Learning,” Proceedings of ACL.</a:t>
            </a:r>
          </a:p>
          <a:p>
            <a:pPr marL="0" indent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800" b="1" dirty="0">
                <a:latin typeface="Times New Roman"/>
                <a:cs typeface="Times New Roman"/>
              </a:rPr>
              <a:t>Why this paper was selected as the base paper: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/>
                <a:cs typeface="Times New Roman"/>
              </a:rPr>
              <a:t>It is among the first works to replace a purely rule-based forgetting curve (Leitner/SM-2) with a trainable, data-driven model (Half-Life Regression) that predicts recall probability and memory half-life.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/>
                <a:cs typeface="Times New Roman"/>
              </a:rPr>
              <a:t>It was validated on a very large real-world dataset (13 million Duolingo learning traces), giving the approach strong empirical grounding.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/>
                <a:cs typeface="Times New Roman"/>
              </a:rPr>
              <a:t>Its core idea of predicting when a specific learner will forget a specific item is directly aligned with the Knowledge Drift concept targeted by this project.</a:t>
            </a:r>
          </a:p>
          <a:p>
            <a:pPr marL="0" indent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800" b="1" dirty="0">
                <a:latin typeface="Times New Roman"/>
                <a:cs typeface="Times New Roman"/>
              </a:rPr>
              <a:t>How this project extends the base paper: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/>
                <a:cs typeface="Times New Roman"/>
              </a:rPr>
              <a:t>Replaces the linear/log-linear regression used in HLR with deep sequence models (LSTM/Transformer) that capture longer, non-linear learning histories.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/>
                <a:cs typeface="Times New Roman"/>
              </a:rPr>
              <a:t>Extends prediction from single vocabulary items to broader academic and technical topics/skills.</a:t>
            </a:r>
          </a:p>
          <a:p>
            <a:pPr marL="342900" indent="-342900" algn="l">
              <a:lnSpc>
                <a:spcPct val="115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/>
                <a:cs typeface="Times New Roman"/>
              </a:rPr>
              <a:t>Adds a personalized revision recommendation layer, AI-generated quizzes and a visual analytics dashboard on top of the base retention-prediction idea.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3F095-6AD4-31E6-B440-FBE60F8581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09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265632" y="1942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Google Shape;1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8" name="Google Shape;1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body" idx="1"/>
          </p:nvPr>
        </p:nvSpPr>
        <p:spPr>
          <a:xfrm>
            <a:off x="503376" y="159780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Survey on Deep Learning Techniques in Educational Data Mining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arXiv:2309.04761, 2023</a:t>
            </a:r>
          </a:p>
          <a:p>
            <a:pPr lvl="0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Knowledge Tracing with Learning Curves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PMC, 2023</a:t>
            </a:r>
          </a:p>
          <a:p>
            <a:pPr lvl="0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DRL-SRS: A Deep Reinforcement Learning Approach for Optimizing Spaced Repetition Scheduling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Applied Sciences (MDPI), 2024</a:t>
            </a:r>
          </a:p>
          <a:p>
            <a:pPr lvl="0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Spaced Repetition Schedule by Capturing the Dynamics of Memory (GLD-HLR)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</a:t>
            </a:r>
          </a:p>
          <a:p>
            <a:pPr lvl="0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DKVMN&amp;MRI: A New Deep Knowledge Tracing Model Incorporating Multi-Relational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PMC, 2024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 Cheng Lee, Yutaka Arakawa,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Tsunenori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Mine,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Trends in Knowledge Tracing Models: A Technical Survey from 2022 to 2025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2025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Based Knowledge Tracing: A Review, a Tool and Empirical Studies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299815" y="15148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Conclusion</a:t>
            </a:r>
            <a:endParaRPr sz="4000" dirty="0"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845407" y="162907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indent="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/>
                <a:cs typeface="Times New Roman"/>
              </a:rPr>
              <a:t>The proposed Keep Learning system addresses a gap that current e-learning and corporate training platforms overlook: knowing not just what a learner has completed, but what they are about to forget. By modeling each learner's knowledge retention over time with LSTM/Transformer networks, the system computes a dynamic retention score per topic, predicts topics at risk of being forgotten, and converts that prediction into a personalized revision plan, AI-generated quizzes and smart reminders. This replaces one-size-fits-all repeat training with a proactive, measurable and learner-specific approach to retention, benefiting IT companies, colleges, EdTech platforms and corporate L&amp;D teams alike.</a:t>
            </a:r>
          </a:p>
        </p:txBody>
      </p:sp>
      <p:sp>
        <p:nvSpPr>
          <p:cNvPr id="95" name="Google Shape;9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538E-4B8D-0F08-7C69-1D903C62B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29198"/>
          </a:xfrm>
        </p:spPr>
        <p:txBody>
          <a:bodyPr>
            <a:normAutofit/>
          </a:bodyPr>
          <a:lstStyle/>
          <a:p>
            <a:r>
              <a:rPr lang="en-IN" sz="5000" dirty="0"/>
              <a:t>			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23FDF2-0438-C80D-79E3-DE482D244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1429</Words>
  <Application>Microsoft Office PowerPoint</Application>
  <PresentationFormat>Widescreen</PresentationFormat>
  <Paragraphs>102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Century Gothic</vt:lpstr>
      <vt:lpstr>Times New Roman</vt:lpstr>
      <vt:lpstr>Arial</vt:lpstr>
      <vt:lpstr>Office Theme</vt:lpstr>
      <vt:lpstr>Keep Learning: AI-Powered Revision Plans</vt:lpstr>
      <vt:lpstr>Introduction</vt:lpstr>
      <vt:lpstr>Problem Statement - Phase I</vt:lpstr>
      <vt:lpstr>Objective</vt:lpstr>
      <vt:lpstr>Literature Review  </vt:lpstr>
      <vt:lpstr>Methodology</vt:lpstr>
      <vt:lpstr>Proposed Architecture / Framework</vt:lpstr>
      <vt:lpstr>Flow Architecture Diagram</vt:lpstr>
      <vt:lpstr>Algorithms / Techniques Used</vt:lpstr>
      <vt:lpstr>Implementation Results and Discussion</vt:lpstr>
      <vt:lpstr>Journal Base Paper selection </vt:lpstr>
      <vt:lpstr>References</vt:lpstr>
      <vt:lpstr>Conclusion</vt:lpstr>
      <vt:lpstr>  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Police Duty Scheduler</dc:title>
  <dc:creator>Rohith</dc:creator>
  <cp:lastModifiedBy>MUGUNTHAN M</cp:lastModifiedBy>
  <cp:revision>12</cp:revision>
  <dcterms:created xsi:type="dcterms:W3CDTF">2023-05-18T12:21:03Z</dcterms:created>
  <dcterms:modified xsi:type="dcterms:W3CDTF">2026-08-21T09:50:29Z</dcterms:modified>
</cp:coreProperties>
</file>